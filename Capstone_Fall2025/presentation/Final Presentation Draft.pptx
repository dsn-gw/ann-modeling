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0CA701-0E45-47BD-8655-67A81B5AE097}">
  <a:tblStyle styleId="{9F0CA701-0E45-47BD-8655-67A81B5AE0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e2a7505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e2a7505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e2a75054c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e2a75054c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e2a75054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e2a75054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e2a75054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e2a75054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e2a75054c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e2a75054c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e2a75054c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e2a75054c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e2a75054c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e2a75054c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6375f30b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6375f30b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44dffb23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c44dffb23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f89bab0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f89bab0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89bab00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89bab00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683bd2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683bd2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fcc3f89a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fcc3f89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44dffb2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c44dffb2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6375f30b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6375f30b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6375f30b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6375f30b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6375f30b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6375f30b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49161bb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c49161bb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c49161bb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c49161bb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6375f30b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6375f30b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c49161bb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c49161bb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Base value (E[f(X)]) = 0.543: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is the </a:t>
            </a:r>
            <a:r>
              <a:rPr b="1" lang="en">
                <a:solidFill>
                  <a:schemeClr val="dk1"/>
                </a:solidFill>
              </a:rPr>
              <a:t>average model output</a:t>
            </a:r>
            <a:r>
              <a:rPr lang="en">
                <a:solidFill>
                  <a:schemeClr val="dk1"/>
                </a:solidFill>
              </a:rPr>
              <a:t> (for example, the mean predicted probability of ASD across the dataset).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Final prediction = 0.5355: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features pushed the prediction slightly </a:t>
            </a:r>
            <a:r>
              <a:rPr i="1" lang="en">
                <a:solidFill>
                  <a:schemeClr val="dk1"/>
                </a:solidFill>
              </a:rPr>
              <a:t>below</a:t>
            </a:r>
            <a:r>
              <a:rPr lang="en">
                <a:solidFill>
                  <a:schemeClr val="dk1"/>
                </a:solidFill>
              </a:rPr>
              <a:t> the average, meaning the model is </a:t>
            </a:r>
            <a:r>
              <a:rPr b="1" lang="en">
                <a:solidFill>
                  <a:schemeClr val="dk1"/>
                </a:solidFill>
              </a:rPr>
              <a:t>slightly less confident</a:t>
            </a:r>
            <a:r>
              <a:rPr lang="en">
                <a:solidFill>
                  <a:schemeClr val="dk1"/>
                </a:solidFill>
              </a:rPr>
              <a:t> about ASD for this sample.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6375f30b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6375f30b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6375f30b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6375f30b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80"/>
              <a:t>Predictive Modeling and Explainable AI for Autism Spectrum Disorder Diagnosis</a:t>
            </a:r>
            <a:endParaRPr sz="3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</a:t>
            </a:r>
            <a:r>
              <a:rPr lang="en"/>
              <a:t>: Dr. Amir Jafari and Dr. Gabriela Rosenblau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Students: Anirudh Rao, Ramana Bhaskar Kosuru, Wilona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825" y="1074525"/>
            <a:ext cx="85206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How can interpretable, multi-modal machine learning models that integrate behavioral and linguistic data improve the diagnostic precision, subtype discovery, and generalizability of Autism Spectrum Disorder (ASD) prediction?</a:t>
            </a:r>
            <a:endParaRPr i="1"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2536650" y="1065050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Extract insights from </a:t>
            </a:r>
            <a:r>
              <a:rPr lang="en">
                <a:solidFill>
                  <a:schemeClr val="dk2"/>
                </a:solidFill>
              </a:rPr>
              <a:t>unstructured</a:t>
            </a:r>
            <a:r>
              <a:rPr lang="en">
                <a:solidFill>
                  <a:schemeClr val="dk2"/>
                </a:solidFill>
              </a:rPr>
              <a:t> text data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536650" y="1769050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Implement feature importance analysis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536650" y="2473050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Improve autism diagnosis accuracy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536650" y="3109738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Create generalize models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536650" y="3780150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Identify autism subclusters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536650" y="4450550"/>
            <a:ext cx="4070700" cy="362100"/>
          </a:xfrm>
          <a:prstGeom prst="round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Develop explainable AI framework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73" name="Google Shape;73;p15"/>
          <p:cNvCxnSpPr>
            <a:stCxn id="67" idx="2"/>
            <a:endCxn id="68" idx="0"/>
          </p:cNvCxnSpPr>
          <p:nvPr/>
        </p:nvCxnSpPr>
        <p:spPr>
          <a:xfrm>
            <a:off x="4572000" y="1427150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/>
          <p:nvPr/>
        </p:nvCxnSpPr>
        <p:spPr>
          <a:xfrm>
            <a:off x="4572000" y="2131150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/>
          <p:nvPr/>
        </p:nvCxnSpPr>
        <p:spPr>
          <a:xfrm>
            <a:off x="4572000" y="2767800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/>
          <p:nvPr/>
        </p:nvCxnSpPr>
        <p:spPr>
          <a:xfrm>
            <a:off x="4572000" y="3438150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/>
          <p:nvPr/>
        </p:nvCxnSpPr>
        <p:spPr>
          <a:xfrm>
            <a:off x="4572000" y="4108550"/>
            <a:ext cx="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Raw Data Description - Data V1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467050" y="162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{9F0CA701-0E45-47BD-8655-67A81B5AE097}</a:tableStyleId>
              </a:tblPr>
              <a:tblGrid>
                <a:gridCol w="1350550"/>
                <a:gridCol w="6859350"/>
              </a:tblGrid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sub</a:t>
                      </a:r>
                      <a:endParaRPr b="1"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Participant ID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td_or_asd</a:t>
                      </a:r>
                      <a:endParaRPr b="1"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Is this participant classified as TD (Typically Developing) or ASD (Autism Spectrum Disorder)? 0 = TD, 1 = ASD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profile</a:t>
                      </a:r>
                      <a:endParaRPr b="1"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TDprof_norm, ASDprof_norm, or ASDprof_unif. These represent the preference profiles of the 3 kids that participants learned about. Participants will have data for at least 2 profiles.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subject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Participant ID followed by a random code for the current profile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asd_diagnosis_text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Which ASD diagnosis does the participant have? Only available for ASD participants. (Aspergers Disorder, Autism, Child Disintegrative Disorder (CDD), PDD-NOS, Other or Unknown, NA)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trial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The trial number (1-60)  within the current profile.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image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The image shown on the current trial. Order is randomized within profile for each participant.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cat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Image category  (1 = activities, 3 = foods)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5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subcat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Image subcategory (1 = arts &amp; crafts, 2 = music &amp; instruments, 3 = sports, 4 = games &amp; gadgets, 9 = fast food, 10 = fruits &amp; vegetables, 11 = healthy &amp; savory, 12 = desserts)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94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Provided by Department of Psychological &amp; Brain Sciences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1119 subjects (ages 8-12Y)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Raw Data Description - Data V1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{9F0CA701-0E45-47BD-8655-67A81B5AE097}</a:tableStyleId>
              </a:tblPr>
              <a:tblGrid>
                <a:gridCol w="1350550"/>
                <a:gridCol w="6859350"/>
              </a:tblGrid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concept</a:t>
                      </a:r>
                      <a:endParaRPr b="1"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Descriptive image concept label (eg. asian_cuisine, baked_good, water_sport, instrument,....)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cnum</a:t>
                      </a:r>
                      <a:endParaRPr sz="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Image concept number (1-25)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selfpref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How much does the participant like this image? (0-100, NA)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asd_meanpref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On average, how much do ASD participants like this image?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td_meanpref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On average, how much do TD participants like this image?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5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slider_rating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The participant's rating of how much they think the peer in question like the image shown. (1-21)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profile_rating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The correct rating for the given image and profile (this is the feedback given to participants) (1-21)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44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PE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Prediction Error. The absolute difference between a participant's rating of how much they think the peer likes an item and the peer's actual liking of the item (actual liking = feedback).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45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profile_avg_PE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Participant's average prediction error (PE) on each peer profile. Prediction error was calculated as the absolute difference between a participant's rating of how much they think the peer likes an item (slider_rating) and the peer's actual liking of the item (profile_rating).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2"/>
                          </a:solidFill>
                        </a:rPr>
                        <a:t>free_response</a:t>
                      </a:r>
                      <a:endParaRPr b="1"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</a:rPr>
                        <a:t>Participant's free response -- what they think about the peer they just learned about.</a:t>
                      </a:r>
                      <a:endParaRPr sz="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 Description - Data V1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940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LLM Trial Level Data .csv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1119 subjects (ages 8-12Y), 3 profiles (TDprof_norm, ASDprof_norm, or ASDprof_unif.)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Each subject has 60 trials for each profile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187,187 </a:t>
            </a:r>
            <a:r>
              <a:rPr lang="en" sz="1300"/>
              <a:t>observations and </a:t>
            </a:r>
            <a:r>
              <a:rPr b="1" lang="en"/>
              <a:t>19 </a:t>
            </a:r>
            <a:r>
              <a:rPr lang="en" sz="1300"/>
              <a:t>variables</a:t>
            </a:r>
            <a:endParaRPr sz="1300"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0" r="596" t="2638"/>
          <a:stretch/>
        </p:blipFill>
        <p:spPr>
          <a:xfrm>
            <a:off x="576250" y="2807325"/>
            <a:ext cx="7602299" cy="14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V2 Description -  Aggregated Level (sub | profile)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940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LLM Data.csv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1119 subjects (ages 8-12Y), 3 profiles (TDprof_norm, ASDprof_norm, or ASDprof_unif.)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Each subject has 3 profiles (avg_PE is calculated </a:t>
            </a:r>
            <a:r>
              <a:rPr lang="en" sz="1300"/>
              <a:t>across</a:t>
            </a:r>
            <a:r>
              <a:rPr lang="en" sz="1300"/>
              <a:t> 60 trials for each profile)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2,648 </a:t>
            </a:r>
            <a:r>
              <a:rPr lang="en" sz="1300"/>
              <a:t>observations and </a:t>
            </a:r>
            <a:r>
              <a:rPr b="1" lang="en"/>
              <a:t>11 </a:t>
            </a:r>
            <a:r>
              <a:rPr lang="en" sz="1300"/>
              <a:t>variables</a:t>
            </a:r>
            <a:endParaRPr sz="1300"/>
          </a:p>
        </p:txBody>
      </p:sp>
      <p:pic>
        <p:nvPicPr>
          <p:cNvPr id="104" name="Google Shape;104;p19" title="Screenshot 2025-10-22 at 5.14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25" y="2699175"/>
            <a:ext cx="8300948" cy="17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V3 Description -  Participant Level (sub)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940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300"/>
              <a:t>LLM data_aggregate_8.25.25 data_updated 10.8.25.csv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1119 subjects (ages 8-12Y), 3 profiles (TDprof_norm, ASDprof_norm, or ASDprof_unif.)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Each subject has: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TDNorm_avg_PE</a:t>
            </a:r>
            <a:r>
              <a:rPr lang="en" sz="1300"/>
              <a:t>: average PE for TDNorm profile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overall_avg_PE</a:t>
            </a:r>
            <a:r>
              <a:rPr lang="en" sz="1300"/>
              <a:t>: average PE across all 3 profiles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TDNorm_concept_learning</a:t>
            </a:r>
            <a:r>
              <a:rPr lang="en" sz="1300"/>
              <a:t>: slope of PE for TDNorm profile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overall_concept_learning</a:t>
            </a:r>
            <a:r>
              <a:rPr lang="en" sz="1300"/>
              <a:t>: slope of PE across all 3 profiles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1,119 </a:t>
            </a:r>
            <a:r>
              <a:rPr lang="en" sz="1300"/>
              <a:t>observations and </a:t>
            </a:r>
            <a:r>
              <a:rPr b="1" lang="en"/>
              <a:t>10 </a:t>
            </a:r>
            <a:r>
              <a:rPr lang="en" sz="1300"/>
              <a:t>variables</a:t>
            </a:r>
            <a:endParaRPr sz="1300"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50054" l="0" r="0" t="0"/>
          <a:stretch/>
        </p:blipFill>
        <p:spPr>
          <a:xfrm>
            <a:off x="512900" y="3062900"/>
            <a:ext cx="8118200" cy="16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Checking Data Leakage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 title="Screenshot 2025-10-22 at 5.42.05 PM.png"/>
          <p:cNvPicPr preferRelativeResize="0"/>
          <p:nvPr/>
        </p:nvPicPr>
        <p:blipFill rotWithShape="1">
          <a:blip r:embed="rId3">
            <a:alphaModFix/>
          </a:blip>
          <a:srcRect b="0" l="1522" r="1522" t="0"/>
          <a:stretch/>
        </p:blipFill>
        <p:spPr>
          <a:xfrm>
            <a:off x="2259475" y="1093375"/>
            <a:ext cx="447413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Induced Features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Characteristic features (44) : 11 characteristics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personality inference, sweets, fruits and vegetables, healthy savory food, food, cosmetics, fashion, toys, gadgets and games, sports, music, arts and crafts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NLP features (16):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word count, sentence count, </a:t>
            </a:r>
            <a:r>
              <a:rPr lang="en"/>
              <a:t>readability</a:t>
            </a:r>
            <a:r>
              <a:rPr lang="en"/>
              <a:t> score, positive sentiment score, etc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Summary</a:t>
            </a:r>
            <a:endParaRPr/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{9F0CA701-0E45-47BD-8655-67A81B5AE097}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Model Version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Version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LLM Agent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Train Accuracy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Test Accuracy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V2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Sonnet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Sub, profile, subject, SRS.RAW, FSR, BIS, avg_PE, free_response, LPA_Profile_grand_mean, LPA_Profile_ASD_only, NLP features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0.9159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0.8925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V2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Data V2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Sonnet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CCCCCC"/>
                          </a:highlight>
                        </a:rPr>
                        <a:t>FSR, avg_PE, free_response, NLP features</a:t>
                      </a:r>
                      <a:endParaRPr sz="1100"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0.9150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0.8699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V3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Data V2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CCCCCC"/>
                          </a:highlight>
                        </a:rPr>
                        <a:t>Qwen</a:t>
                      </a:r>
                      <a:endParaRPr sz="1100"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FSR, avg_PE, free_response, NLP features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0.9135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0.8699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Summary</a:t>
            </a:r>
            <a:endParaRPr/>
          </a:p>
        </p:txBody>
      </p:sp>
      <p:graphicFrame>
        <p:nvGraphicFramePr>
          <p:cNvPr id="135" name="Google Shape;135;p24"/>
          <p:cNvGraphicFramePr/>
          <p:nvPr/>
        </p:nvGraphicFramePr>
        <p:xfrm>
          <a:off x="962849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{9F0CA701-0E45-47BD-8655-67A81B5AE097}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Model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File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LLM Agent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Train Accuracy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Test Accuracy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V4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V2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CCCCCC"/>
                          </a:highlight>
                        </a:rPr>
                        <a:t>Hugging Face Llama</a:t>
                      </a:r>
                      <a:endParaRPr sz="1100"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FSR, avg_PE, free_response, NLP features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0.9072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0.8931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V5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Data V2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,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Data V1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Qwen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FSR, avg_PE, free_response, NLP features,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CCCCCC"/>
                          </a:highlight>
                        </a:rPr>
                        <a:t>slope features</a:t>
                      </a:r>
                      <a:endParaRPr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V6 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V3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Qwen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FSR, avg_PE, free_response, NLP features,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CCCCCC"/>
                          </a:highlight>
                        </a:rPr>
                        <a:t>concept learning</a:t>
                      </a:r>
                      <a:endParaRPr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0.8916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0.9062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Summary</a:t>
            </a:r>
            <a:endParaRPr/>
          </a:p>
        </p:txBody>
      </p:sp>
      <p:graphicFrame>
        <p:nvGraphicFramePr>
          <p:cNvPr id="141" name="Google Shape;141;p25"/>
          <p:cNvGraphicFramePr/>
          <p:nvPr/>
        </p:nvGraphicFramePr>
        <p:xfrm>
          <a:off x="962849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{9F0CA701-0E45-47BD-8655-67A81B5AE097}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Model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File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LLM Agent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Train Accuracy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Test Accuracy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V7-1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V3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Qwen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FSR, avg_PE, free_response, NLP features, concept learning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0.8954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0.8929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V7-2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Data V3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Qwen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CCCCCC"/>
                          </a:highlight>
                        </a:rPr>
                        <a:t>Test on FSR overlap region</a:t>
                      </a:r>
                      <a:endParaRPr sz="1100"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1.000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0.4727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V7-3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Data V3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Qwen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CCCCCC"/>
                          </a:highlight>
                        </a:rPr>
                        <a:t>Train on FSR overlap region</a:t>
                      </a:r>
                      <a:endParaRPr sz="1100">
                        <a:highlight>
                          <a:srgbClr val="CCCCCC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0.8303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1.0000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FSR Overlap Test</a:t>
            </a:r>
            <a:endParaRPr/>
          </a:p>
        </p:txBody>
      </p:sp>
      <p:pic>
        <p:nvPicPr>
          <p:cNvPr id="147" name="Google Shape;147;p26" title="Screenshot 2025-10-22 at 5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00" y="1152475"/>
            <a:ext cx="2244301" cy="1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/>
          <p:nvPr/>
        </p:nvSpPr>
        <p:spPr>
          <a:xfrm>
            <a:off x="996750" y="2180825"/>
            <a:ext cx="555600" cy="2580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</a:rPr>
              <a:t>train</a:t>
            </a:r>
            <a:endParaRPr sz="1100">
              <a:solidFill>
                <a:srgbClr val="CC0000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956975" y="2577675"/>
            <a:ext cx="5556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C0000"/>
              </a:solidFill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060100" y="2282825"/>
            <a:ext cx="397800" cy="1560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155CC"/>
                </a:solidFill>
              </a:rPr>
              <a:t>test</a:t>
            </a:r>
            <a:endParaRPr sz="800">
              <a:solidFill>
                <a:srgbClr val="1155CC"/>
              </a:solidFill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514675" y="2282925"/>
            <a:ext cx="335100" cy="1560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155CC"/>
                </a:solidFill>
              </a:rPr>
              <a:t>test</a:t>
            </a:r>
            <a:endParaRPr sz="700">
              <a:solidFill>
                <a:srgbClr val="1155CC"/>
              </a:solidFill>
            </a:endParaRPr>
          </a:p>
        </p:txBody>
      </p:sp>
      <p:pic>
        <p:nvPicPr>
          <p:cNvPr id="152" name="Google Shape;152;p26" title="Screenshot 2025-10-22 at 5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175" y="1138225"/>
            <a:ext cx="2244301" cy="1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/>
          <p:nvPr/>
        </p:nvSpPr>
        <p:spPr>
          <a:xfrm>
            <a:off x="3664600" y="2190875"/>
            <a:ext cx="397800" cy="2094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CC0000"/>
                </a:solidFill>
              </a:rPr>
              <a:t>train</a:t>
            </a:r>
            <a:endParaRPr sz="700">
              <a:solidFill>
                <a:srgbClr val="CC0000"/>
              </a:solidFill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5218550" y="2190875"/>
            <a:ext cx="397800" cy="2094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CC0000"/>
                </a:solidFill>
              </a:rPr>
              <a:t>train</a:t>
            </a:r>
            <a:endParaRPr sz="700">
              <a:solidFill>
                <a:srgbClr val="CC0000"/>
              </a:solidFill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4025975" y="2166575"/>
            <a:ext cx="555600" cy="2580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pic>
        <p:nvPicPr>
          <p:cNvPr id="156" name="Google Shape;156;p26" title="Screenshot 2025-10-22 at 5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850" y="1152475"/>
            <a:ext cx="2244301" cy="1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/>
          <p:nvPr/>
        </p:nvSpPr>
        <p:spPr>
          <a:xfrm>
            <a:off x="6821625" y="1324050"/>
            <a:ext cx="1938000" cy="11145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</a:rPr>
              <a:t>train</a:t>
            </a:r>
            <a:endParaRPr sz="1100">
              <a:solidFill>
                <a:srgbClr val="CC0000"/>
              </a:solidFill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897775" y="1800300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7228775" y="1776125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7559775" y="1800300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7900800" y="1776125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8241825" y="1800300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8478625" y="1776125"/>
            <a:ext cx="169500" cy="638400"/>
          </a:xfrm>
          <a:prstGeom prst="rect">
            <a:avLst/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55CC"/>
                </a:solidFill>
              </a:rPr>
              <a:t>test</a:t>
            </a:r>
            <a:endParaRPr sz="12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V4 (Best Model) - on Data Aggregated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152475"/>
            <a:ext cx="8520600" cy="36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Hugging Face Llama 3.2 for Characteristic Feature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320" y="1794049"/>
            <a:ext cx="3803924" cy="301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V5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</a:t>
            </a:r>
            <a:r>
              <a:rPr lang="en" u="sng"/>
              <a:t>slope features</a:t>
            </a:r>
            <a:r>
              <a:rPr lang="en"/>
              <a:t> calculated from “trial level data_v1_8.25.25.csv”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48" y="1781600"/>
            <a:ext cx="5602924" cy="21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6" y="1505549"/>
            <a:ext cx="4481352" cy="355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V6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Agent: </a:t>
            </a:r>
            <a:r>
              <a:rPr lang="en">
                <a:highlight>
                  <a:srgbClr val="FFFFFF"/>
                </a:highlight>
              </a:rPr>
              <a:t>Qwen/Qwen2.5-0.5B-Instruct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highlight>
                  <a:srgbClr val="FFFFFF"/>
                </a:highlight>
              </a:rPr>
              <a:t>Using concept learning features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Optuna for xgboost_model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 rotWithShape="1">
          <a:blip r:embed="rId3">
            <a:alphaModFix/>
          </a:blip>
          <a:srcRect b="50054" l="0" r="0" t="0"/>
          <a:stretch/>
        </p:blipFill>
        <p:spPr>
          <a:xfrm>
            <a:off x="1506650" y="2425300"/>
            <a:ext cx="5947976" cy="182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725" y="1117825"/>
            <a:ext cx="6360223" cy="3680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Explainability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Explainability - row 1001 - Target 0 - TD</a:t>
            </a: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450" y="1118175"/>
            <a:ext cx="617628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Explainability - row 1001 - Target 0 - TD</a:t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225" y="1118175"/>
            <a:ext cx="7389102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Explainability - row 1665 - Target 1 - ASD</a:t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75" y="1017725"/>
            <a:ext cx="7958948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Explainability - row 1665 - Target 1 - ASD</a:t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75" y="1100850"/>
            <a:ext cx="820304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KDE plot of FSR by Target</a:t>
            </a:r>
            <a:endParaRPr/>
          </a:p>
        </p:txBody>
      </p:sp>
      <p:pic>
        <p:nvPicPr>
          <p:cNvPr id="221" name="Google Shape;221;p35" title="Screenshot 2025-10-22 at 5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25" y="1196275"/>
            <a:ext cx="5392524" cy="357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6396950" y="1285875"/>
            <a:ext cx="2377200" cy="31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FSR: Flexibility Scale Revised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Higher scores indicate lower flexibility/ greater rigidity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 FSR overlap </a:t>
            </a:r>
            <a:r>
              <a:rPr lang="en"/>
              <a:t>section</a:t>
            </a:r>
            <a:r>
              <a:rPr lang="en"/>
              <a:t> between TD and ASD candidates and use that as Train/Test set to identify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 Autism Subclusters - data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Modify Streamlit code to work with all versions and trials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Importance Code needs to be modified for the TD ASD comparisons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BERT Embeddings for text data to replace Characteristics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